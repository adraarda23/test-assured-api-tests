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Yapay Zeka Destekli Yazılım Test Mühendisliği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Ödev:</a:t>
            </a:r>
            <a:r>
              <a:rPr/>
              <a:t> REST Assured ile servis regresyon testi otomasyonu </a:t>
            </a:r>
            <a:r>
              <a:rPr b="1"/>
              <a:t>Demo proje:</a:t>
            </a:r>
            <a:r>
              <a:rPr/>
              <a:t> Tasks API + REST Assured test paketi </a:t>
            </a:r>
            <a:r>
              <a:rPr b="1"/>
              <a:t>Sunan:</a:t>
            </a:r>
            <a:r>
              <a:rPr/>
              <a:t> Arda Aydın Kılınç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Gündem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Yazılım test mühendisliği — neden var, ne işe yarar</a:t>
            </a:r>
          </a:p>
          <a:p>
            <a:pPr lvl="0" indent="-342900" marL="342900">
              <a:buAutoNum type="arabicPeriod"/>
            </a:pPr>
            <a:r>
              <a:rPr/>
              <a:t>Test otomasyonu ve test piramidi</a:t>
            </a:r>
          </a:p>
          <a:p>
            <a:pPr lvl="0" indent="-342900" marL="342900">
              <a:buAutoNum type="arabicPeriod"/>
            </a:pPr>
            <a:r>
              <a:rPr/>
              <a:t>REST Assured’un yeri</a:t>
            </a:r>
          </a:p>
          <a:p>
            <a:pPr lvl="0" indent="-342900" marL="342900">
              <a:buAutoNum type="arabicPeriod"/>
            </a:pPr>
            <a:r>
              <a:rPr/>
              <a:t>Yapay zeka destekli test mühendisliği</a:t>
            </a:r>
          </a:p>
          <a:p>
            <a:pPr lvl="0" indent="-342900" marL="342900">
              <a:buAutoNum type="arabicPeriod"/>
            </a:pPr>
            <a:r>
              <a:rPr/>
              <a:t>Bu projeyi yapay zeka ile nasıl geliştirdim</a:t>
            </a:r>
          </a:p>
          <a:p>
            <a:pPr lvl="0" indent="-342900" marL="342900">
              <a:buAutoNum type="arabicPeriod"/>
            </a:pPr>
            <a:r>
              <a:rPr/>
              <a:t>Demo</a:t>
            </a:r>
          </a:p>
          <a:p>
            <a:pPr lvl="0" indent="-342900" marL="342900">
              <a:buAutoNum type="arabicPeriod"/>
            </a:pPr>
            <a:r>
              <a:rPr/>
              <a:t>Avantajlar, riskler ve pratik öneriler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Yazılım test mühendisliği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Bir yazılımın </a:t>
            </a:r>
            <a:r>
              <a:rPr b="1"/>
              <a:t>doğru çalıştığını</a:t>
            </a:r>
            <a:r>
              <a:rPr/>
              <a:t> ve </a:t>
            </a:r>
            <a:r>
              <a:rPr b="1"/>
              <a:t>çalışmaya devam ettiğini</a:t>
            </a:r>
            <a:r>
              <a:rPr/>
              <a:t> sistematik olarak kanıtlama disiplini.</a:t>
            </a:r>
          </a:p>
          <a:p>
            <a:pPr lvl="0" indent="0" marL="0">
              <a:buNone/>
            </a:pPr>
            <a:r>
              <a:rPr/>
              <a:t>Üç temel sorunun cevabını arar:</a:t>
            </a:r>
          </a:p>
          <a:p>
            <a:pPr lvl="0"/>
            <a:r>
              <a:rPr b="1"/>
              <a:t>Doğruluk:</a:t>
            </a:r>
            <a:r>
              <a:rPr/>
              <a:t> Beklenen davranışı yapıyor mu?</a:t>
            </a:r>
          </a:p>
          <a:p>
            <a:pPr lvl="0"/>
            <a:r>
              <a:rPr b="1"/>
              <a:t>Sağlamlık:</a:t>
            </a:r>
            <a:r>
              <a:rPr/>
              <a:t> Hatalı veri veya yük altında nasıl davranıyor?</a:t>
            </a:r>
          </a:p>
          <a:p>
            <a:pPr lvl="0"/>
            <a:r>
              <a:rPr b="1"/>
              <a:t>Regresyon:</a:t>
            </a:r>
            <a:r>
              <a:rPr/>
              <a:t> Yeni bir değişiklik eski özellikleri bozdu mu?</a:t>
            </a:r>
          </a:p>
          <a:p>
            <a:pPr lvl="0" indent="0" marL="0">
              <a:buNone/>
            </a:pPr>
            <a:r>
              <a:rPr/>
              <a:t>Manuel test ölçeklenmez — her commit’te tüm senaryoyu insanın tekrar koşmasını isteyemeyiz. Bu nedenle </a:t>
            </a:r>
            <a:r>
              <a:rPr b="1"/>
              <a:t>otomatik regresyon testleri</a:t>
            </a:r>
            <a:r>
              <a:rPr/>
              <a:t> üretiriz.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piramidi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/\
             /E2E\           az sayıda, yavaş, kırılgan
            /------\
           / Integ. \        orta sayıda, orta hızda
          /----------\
         /   Unit     \      çok sayıda, hızlı, ucuz
        /--------------\</a:t>
            </a:r>
          </a:p>
          <a:p>
            <a:pPr lvl="0" indent="0" marL="0">
              <a:buNone/>
            </a:pPr>
            <a:r>
              <a:rPr/>
              <a:t>Pratik kural: </a:t>
            </a:r>
            <a:r>
              <a:rPr b="1"/>
              <a:t>çok unit, makul integration, az E2E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Bu projede: - </a:t>
            </a:r>
            <a:r>
              <a:rPr b="1"/>
              <a:t>24 unit test</a:t>
            </a:r>
            <a:r>
              <a:rPr/>
              <a:t> (Mockito + saf JUnit) — milisaniye seviyesinde - </a:t>
            </a:r>
            <a:r>
              <a:rPr b="1"/>
              <a:t>12 integration test</a:t>
            </a:r>
            <a:r>
              <a:rPr/>
              <a:t> (REST Assured + Spring Boot embedded server) — gerçek HTTP çağrıları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 Assured neden?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Java tarafında HTTP API’leri test etmek için en yaygın kütüphane.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given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body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"Buy milk"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"completed"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when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post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"/tasks"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then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statusCode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body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equalTo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"Buy milk"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time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lessThan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2000L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</a:p>
          <a:p>
            <a:pPr lvl="0" indent="0" marL="0">
              <a:buNone/>
            </a:pPr>
            <a:r>
              <a:rPr/>
              <a:t>Üç şeyi tek bir akıcı zincirde söyletir:</a:t>
            </a:r>
          </a:p>
          <a:p>
            <a:pPr lvl="0"/>
            <a:r>
              <a:rPr b="1"/>
              <a:t>Status code</a:t>
            </a:r>
            <a:r>
              <a:rPr/>
              <a:t> — </a:t>
            </a:r>
            <a:r>
              <a:rPr>
                <a:latin typeface="Courier"/>
              </a:rPr>
              <a:t>.statusCode(201)</a:t>
            </a:r>
          </a:p>
          <a:p>
            <a:pPr lvl="0"/>
            <a:r>
              <a:rPr b="1"/>
              <a:t>Response body</a:t>
            </a:r>
            <a:r>
              <a:rPr/>
              <a:t> — </a:t>
            </a:r>
            <a:r>
              <a:rPr>
                <a:latin typeface="Courier"/>
              </a:rPr>
              <a:t>.body("title", equalTo(...))</a:t>
            </a:r>
          </a:p>
          <a:p>
            <a:pPr lvl="0"/>
            <a:r>
              <a:rPr b="1"/>
              <a:t>Süre</a:t>
            </a:r>
            <a:r>
              <a:rPr/>
              <a:t> — </a:t>
            </a:r>
            <a:r>
              <a:rPr>
                <a:latin typeface="Courier"/>
              </a:rPr>
              <a:t>.time(lessThan(2000L))</a:t>
            </a:r>
          </a:p>
          <a:p>
            <a:pPr lvl="0" indent="0" marL="0">
              <a:buNone/>
            </a:pPr>
            <a:r>
              <a:rPr/>
              <a:t>Ödevin gerektirdiği üç kontrol de buraya sığıyor.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Yapay zeka destekli test mühendisliği — manzara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 tabanlı asistanlar (Claude, Copilot, Cursor vb.) ile test mühendisliği artık iki yönlü: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Klasik test mühendisliği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 AI desteği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İnsan testi yazar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İnsan + asistan birlikte yazar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Senaryo aklına gelen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 “kenar durumu unuttun mu?” diye sorar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Stack trace okunur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 hatayı özetler ve düzeltme önerir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dokümanı manuel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Asistan dokümantasyon ve raporu üretir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Önemli: </a:t>
            </a:r>
            <a:r>
              <a:rPr b="1"/>
              <a:t>AI, test mühendisini değiştirmiyor; karar merci hâlâ insan.</a:t>
            </a:r>
            <a:r>
              <a:rPr/>
              <a:t> Düşünmeyi outsource edersen yanlış güvene düşersin.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AI’nın test yaşam döngüsündeki tipik rolleri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Test üretimi</a:t>
            </a:r>
            <a:r>
              <a:rPr/>
              <a:t> — Belirtilen bir API/sınıf için temel pozitif ve negatif senaryoları otomatik üretmek</a:t>
            </a:r>
          </a:p>
          <a:p>
            <a:pPr lvl="0" indent="-342900" marL="342900">
              <a:buAutoNum type="arabicPeriod"/>
            </a:pPr>
            <a:r>
              <a:rPr b="1"/>
              <a:t>Test oracle</a:t>
            </a:r>
            <a:r>
              <a:rPr/>
              <a:t> — “Bu çıktı doğru mu?” kararını bilgi tabanından çıkarmak (özellikle ML/üretken sistemlerde)</a:t>
            </a:r>
          </a:p>
          <a:p>
            <a:pPr lvl="0" indent="-342900" marL="342900">
              <a:buAutoNum type="arabicPeriod"/>
            </a:pPr>
            <a:r>
              <a:rPr b="1"/>
              <a:t>Test bakımı</a:t>
            </a:r>
            <a:r>
              <a:rPr/>
              <a:t> — Üretim kodu değişince bozulan testleri otomatik güncellemek, flakiness analizi</a:t>
            </a:r>
          </a:p>
          <a:p>
            <a:pPr lvl="0" indent="-342900" marL="342900">
              <a:buAutoNum type="arabicPeriod"/>
            </a:pPr>
            <a:r>
              <a:rPr b="1"/>
              <a:t>Hata triyajı</a:t>
            </a:r>
            <a:r>
              <a:rPr/>
              <a:t> — Stack trace’ten kök neden hipotezi üretmek, log korelasyonu</a:t>
            </a:r>
          </a:p>
          <a:p>
            <a:pPr lvl="0" indent="-342900" marL="342900">
              <a:buAutoNum type="arabicPeriod"/>
            </a:pPr>
            <a:r>
              <a:rPr b="1"/>
              <a:t>Doğal dilden senaryoya</a:t>
            </a:r>
            <a:r>
              <a:rPr/>
              <a:t> — “Kullanıcı sepete ürün eklerse stok azalmalı” → çalıştırılabilir test</a:t>
            </a:r>
          </a:p>
          <a:p>
            <a:pPr lvl="0" indent="0" marL="0">
              <a:buNone/>
            </a:pPr>
            <a:r>
              <a:rPr/>
              <a:t>Her biri </a:t>
            </a:r>
            <a:r>
              <a:rPr b="1"/>
              <a:t>insan denetiminde</a:t>
            </a:r>
            <a:r>
              <a:rPr/>
              <a:t> kullanıldığında değer üretir.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 projeyi yapay zeka ile nasıl geliştirdim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Süreç tamamen </a:t>
            </a:r>
            <a:r>
              <a:rPr b="1"/>
              <a:t>insan + asistan eş geliştirme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PDF gereksinimi yapay zekaya verildi → 4 aşamalı plan üretildi</a:t>
            </a:r>
          </a:p>
          <a:p>
            <a:pPr lvl="0" indent="-342900" marL="342900">
              <a:buAutoNum type="arabicPeriod"/>
            </a:pPr>
            <a:r>
              <a:rPr/>
              <a:t>Her aşama </a:t>
            </a:r>
            <a:r>
              <a:rPr b="1"/>
              <a:t>mikro commit</a:t>
            </a:r>
            <a:r>
              <a:rPr/>
              <a:t>’lere bölündü (toplam 35+ commit)</a:t>
            </a:r>
          </a:p>
          <a:p>
            <a:pPr lvl="0" indent="-342900" marL="342900">
              <a:buAutoNum type="arabicPeriod"/>
            </a:pPr>
            <a:r>
              <a:rPr/>
              <a:t>Asistan kod önerdi, ben okudum, gerektiğinde itiraz ettim:</a:t>
            </a:r>
          </a:p>
          <a:p>
            <a:pPr lvl="1"/>
            <a:r>
              <a:rPr/>
              <a:t>Tek modül vs çok modül kararı tartışıldı</a:t>
            </a:r>
          </a:p>
          <a:p>
            <a:pPr lvl="1"/>
            <a:r>
              <a:rPr/>
              <a:t>Unit testlerin nereye konulacağı düzeltildi</a:t>
            </a:r>
          </a:p>
          <a:p>
            <a:pPr lvl="1"/>
            <a:r>
              <a:rPr/>
              <a:t>Boilerplate kod (POJO) record’a refactor edildi</a:t>
            </a:r>
          </a:p>
          <a:p>
            <a:pPr lvl="0" indent="-342900" marL="342900">
              <a:buAutoNum type="arabicPeriod"/>
            </a:pPr>
            <a:r>
              <a:rPr/>
              <a:t>Her adımda </a:t>
            </a:r>
            <a:r>
              <a:rPr>
                <a:latin typeface="Courier"/>
              </a:rPr>
              <a:t>mvn verify</a:t>
            </a:r>
            <a:r>
              <a:rPr/>
              <a:t> çalıştırılıp </a:t>
            </a:r>
            <a:r>
              <a:rPr b="1"/>
              <a:t>regresyonun korunduğu</a:t>
            </a:r>
            <a:r>
              <a:rPr/>
              <a:t> doğrulandı</a:t>
            </a:r>
          </a:p>
          <a:p>
            <a:pPr lvl="0" indent="0" marL="0">
              <a:buNone/>
            </a:pPr>
            <a:r>
              <a:rPr/>
              <a:t>Sonuç: </a:t>
            </a:r>
            <a:r>
              <a:rPr b="1"/>
              <a:t>24 unit + 12 integration test, hepsi yeşil, multi-module Maven projesi.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akışı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Canlı gösterim sırası: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git log --oneline</a:t>
            </a:r>
            <a:r>
              <a:rPr/>
              <a:t> — küçük ve okunabilir commit geçmişi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mvn -pl api spring-boot:run</a:t>
            </a:r>
            <a:r>
              <a:rPr/>
              <a:t> — Spring Boot Tasks API’yi ayağa kaldır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curl http://localhost:8080/api/tasks</a:t>
            </a:r>
            <a:r>
              <a:rPr/>
              <a:t> — endpoint’lerin çalıştığını göster</a:t>
            </a:r>
          </a:p>
          <a:p>
            <a:pPr lvl="0" indent="-342900" marL="342900">
              <a:buAutoNum type="arabicPeriod"/>
            </a:pPr>
            <a:r>
              <a:rPr/>
              <a:t>Bir REST Assured test sınıfını aç — örn. </a:t>
            </a:r>
            <a:r>
              <a:rPr>
                <a:latin typeface="Courier"/>
              </a:rPr>
              <a:t>CreateTaskIT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mvn verify</a:t>
            </a:r>
            <a:r>
              <a:rPr/>
              <a:t> — tüm test paketini koştur, yeşili göster</a:t>
            </a:r>
          </a:p>
          <a:p>
            <a:pPr lvl="0" indent="-342900" marL="342900">
              <a:buAutoNum type="arabicPeriod"/>
            </a:pPr>
            <a:r>
              <a:rPr/>
              <a:t>IntelliJ test ağacında pas/fail/süre dağılımı</a:t>
            </a:r>
          </a:p>
          <a:p>
            <a:pPr lvl="0" indent="-342900" marL="342900">
              <a:buAutoNum type="arabicPeriod"/>
            </a:pPr>
            <a:r>
              <a:rPr/>
              <a:t>CI yeşil rozeti (GitHub Actions)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Avantajlar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Hız:</a:t>
            </a:r>
            <a:r>
              <a:rPr/>
              <a:t> Boilerplate testler dakikalar içinde</a:t>
            </a:r>
          </a:p>
          <a:p>
            <a:pPr lvl="0"/>
            <a:r>
              <a:rPr b="1"/>
              <a:t>Kapsam:</a:t>
            </a:r>
            <a:r>
              <a:rPr/>
              <a:t> “Negatif senaryoyu unutma” hatırlatması sayesinde 400/404 senaryoları doğal olarak eklendi</a:t>
            </a:r>
          </a:p>
          <a:p>
            <a:pPr lvl="0"/>
            <a:r>
              <a:rPr b="1"/>
              <a:t>Öğretici:</a:t>
            </a:r>
            <a:r>
              <a:rPr/>
              <a:t> Asistan açıklarken neden öyle yaptığını anlatıyor — yeni bir kütüphaneyi öğrenmek hızlanıyor</a:t>
            </a:r>
          </a:p>
          <a:p>
            <a:pPr lvl="0"/>
            <a:r>
              <a:rPr b="1"/>
              <a:t>Tutarlılık:</a:t>
            </a:r>
            <a:r>
              <a:rPr/>
              <a:t> Tüm testlerde aynı patern (status + body + time) korunuyor</a:t>
            </a:r>
          </a:p>
          <a:p>
            <a:pPr lvl="0"/>
            <a:r>
              <a:rPr b="1"/>
              <a:t>Geri besleme:</a:t>
            </a:r>
            <a:r>
              <a:rPr/>
              <a:t> Hata mesajından kök nedeni bulmak saatler yerine dakikalar sürüyor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Riskler ve dikkat edilmesi gerekenler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Halüsinasyon:</a:t>
            </a:r>
            <a:r>
              <a:rPr/>
              <a:t> Asistan var olmayan bir metot/parametre uydurabilir — derleyici ve testler bu yüzden değerli</a:t>
            </a:r>
          </a:p>
          <a:p>
            <a:pPr lvl="0"/>
            <a:r>
              <a:rPr b="1"/>
              <a:t>Yanlış güven:</a:t>
            </a:r>
            <a:r>
              <a:rPr/>
              <a:t> “AI yazdı, doğrudur” tuzağı. Her testin </a:t>
            </a:r>
            <a:r>
              <a:rPr b="1"/>
              <a:t>ne kanıtladığını</a:t>
            </a:r>
            <a:r>
              <a:rPr/>
              <a:t> insan bilmeli</a:t>
            </a:r>
          </a:p>
          <a:p>
            <a:pPr lvl="0"/>
            <a:r>
              <a:rPr b="1"/>
              <a:t>Üretim kodu mu, test kodu mu test ediliyor?</a:t>
            </a:r>
            <a:r>
              <a:rPr/>
              <a:t> AI hem üretim hem test yazıyorsa ikisinin aynı yanlışı paylaşma riski var</a:t>
            </a:r>
          </a:p>
          <a:p>
            <a:pPr lvl="0"/>
            <a:r>
              <a:rPr b="1"/>
              <a:t>Gizlilik:</a:t>
            </a:r>
            <a:r>
              <a:rPr/>
              <a:t> Şirket içi koda LLM erişimi politikaya tabi</a:t>
            </a:r>
          </a:p>
          <a:p>
            <a:pPr lvl="0"/>
            <a:r>
              <a:rPr b="1"/>
              <a:t>Yetkinlik kaybı:</a:t>
            </a:r>
            <a:r>
              <a:rPr/>
              <a:t> Asistan olmadan stack trace okuyabilen mühendis hâlâ gerekli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Pratik öneriler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Asistanı code reviewer gibi düşün</a:t>
            </a:r>
            <a:r>
              <a:rPr/>
              <a:t> — kabul/ret kararı sende</a:t>
            </a:r>
          </a:p>
          <a:p>
            <a:pPr lvl="0" indent="-342900" marL="342900">
              <a:buAutoNum type="arabicPeriod"/>
            </a:pPr>
            <a:r>
              <a:rPr b="1"/>
              <a:t>Mikro adımlar</a:t>
            </a:r>
            <a:r>
              <a:rPr/>
              <a:t> — büyük tek seferlik üretim yerine küçük commit’ler, her birinde test koş</a:t>
            </a:r>
          </a:p>
          <a:p>
            <a:pPr lvl="0" indent="-342900" marL="342900">
              <a:buAutoNum type="arabicPeriod"/>
            </a:pPr>
            <a:r>
              <a:rPr b="1"/>
              <a:t>Test isimlerini insan yaz</a:t>
            </a:r>
            <a:r>
              <a:rPr/>
              <a:t> — “ne kanıtladığımı” en iyi sen bilirsin</a:t>
            </a:r>
          </a:p>
          <a:p>
            <a:pPr lvl="0" indent="-342900" marL="342900">
              <a:buAutoNum type="arabicPeriod"/>
            </a:pPr>
            <a:r>
              <a:rPr b="1"/>
              <a:t>Negatif senaryoları açıkça iste</a:t>
            </a:r>
            <a:r>
              <a:rPr/>
              <a:t> — “404, 400, boş input için de test ekle” demeyi unutma</a:t>
            </a:r>
          </a:p>
          <a:p>
            <a:pPr lvl="0" indent="-342900" marL="342900">
              <a:buAutoNum type="arabicPeriod"/>
            </a:pPr>
            <a:r>
              <a:rPr b="1"/>
              <a:t>Refactor’ı asistana yaptır, kararı sen ver</a:t>
            </a:r>
            <a:r>
              <a:rPr/>
              <a:t> — boilerplate temizliği AI’ın en iyi olduğu yerdir</a:t>
            </a:r>
          </a:p>
          <a:p>
            <a:pPr lvl="0" indent="-342900" marL="342900">
              <a:buAutoNum type="arabicPeriod"/>
            </a:pPr>
            <a:r>
              <a:rPr b="1"/>
              <a:t>CI’a güven, lokal başarıya değil</a:t>
            </a:r>
            <a:r>
              <a:rPr/>
              <a:t> — temiz makine + farklı JDK = farklı sonuç olabilir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Yazılım test mühendisliği, yazılımı </a:t>
            </a:r>
            <a:r>
              <a:rPr b="1"/>
              <a:t>güvenle değiştirebilmenin</a:t>
            </a:r>
            <a:r>
              <a:rPr/>
              <a:t> disiplini</a:t>
            </a:r>
          </a:p>
          <a:p>
            <a:pPr lvl="0"/>
            <a:r>
              <a:rPr/>
              <a:t>REST Assured + JUnit + Maven, JVM dünyasında bu işin defacto stack’i</a:t>
            </a:r>
          </a:p>
          <a:p>
            <a:pPr lvl="0"/>
            <a:r>
              <a:rPr/>
              <a:t>Yapay zeka, mühendisin </a:t>
            </a:r>
            <a:r>
              <a:rPr b="1"/>
              <a:t>hızını ve kapsamını</a:t>
            </a:r>
            <a:r>
              <a:rPr/>
              <a:t> büyütüyor — yargısını değil</a:t>
            </a:r>
          </a:p>
          <a:p>
            <a:pPr lvl="0"/>
            <a:r>
              <a:rPr/>
              <a:t>Bu projede 4 aşamada, mikro commit’lerle, AI eş geliştirmeyle üretildi</a:t>
            </a:r>
          </a:p>
          <a:p>
            <a:pPr lvl="0"/>
            <a:r>
              <a:rPr/>
              <a:t>Repo: </a:t>
            </a:r>
            <a:r>
              <a:rPr>
                <a:latin typeface="Courier"/>
              </a:rPr>
              <a:t>github.com/adraarda23/test-assured-api-tests</a:t>
            </a:r>
          </a:p>
          <a:p>
            <a:pPr lvl="0" indent="0" marL="0">
              <a:buNone/>
            </a:pPr>
            <a:r>
              <a:rPr b="1"/>
              <a:t>Sorular?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2026-05-13T12:56:15Z</dcterms:created>
  <dcterms:modified xsi:type="dcterms:W3CDTF">2026-05-13T12:56:15Z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