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</a:rPr>
              <a:t>SUNUM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F172A"/>
                </a:solidFill>
              </a:rPr>
              <a:t>Yapay Zeka Destekli
Yazılım Test Mühendisliği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334155"/>
                </a:solidFill>
              </a:rPr>
              <a:t>REST Assured ile servis regresyon testi otomasyonu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4A3B8"/>
                </a:solidFill>
              </a:rPr>
              <a:t>Demo projesi: Tasks API + REST Assured test paketi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94A3B8"/>
                </a:solidFill>
              </a:rPr>
              <a:t>Arda Aydın Kılınç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Gündem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2563E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373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Yazılım test mühendisliği — neden var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69164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2563EB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Test piramidi ve REST Assured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363724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2563EB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09444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Yapay zeka destekli test mühendisliği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0" y="2363724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2563EB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409444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Projeyi AI ile nasıl geliştirdim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035808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2563EB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81528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Demo: Tasks API + REST Assured</a:t>
            </a:r>
          </a:p>
        </p:txBody>
      </p:sp>
      <p:sp>
        <p:nvSpPr>
          <p:cNvPr id="17" name="Oval 16"/>
          <p:cNvSpPr/>
          <p:nvPr/>
        </p:nvSpPr>
        <p:spPr>
          <a:xfrm>
            <a:off x="6309360" y="3035808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2563EB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081528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Avantajlar, riskler, pratik öneriler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Yazılım test mühendisliği nedir?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0F172A"/>
                </a:solidFill>
              </a:rPr>
              <a:t>"Bir yazılımın doğru çalıştığını ve çalışmaya devam ettiğini sistematik olarak kanıtlamak."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147" y="329184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9467" y="3749040"/>
            <a:ext cx="3200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467" y="3931920"/>
            <a:ext cx="3063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Doğruluk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448056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4155"/>
                </a:solidFill>
              </a:rPr>
              <a:t>Beklenen davranışı yapıyor mu?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907" y="329184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64227" y="3749040"/>
            <a:ext cx="3200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4227" y="3931920"/>
            <a:ext cx="3063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Sağlamlık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4227" y="448056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4155"/>
                </a:solidFill>
              </a:rPr>
              <a:t>Hatalı veri veya yük altında nasıl davranır?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4667" y="329184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58987" y="3749040"/>
            <a:ext cx="3200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8987" y="3931920"/>
            <a:ext cx="3063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Regresyon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8987" y="448056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4155"/>
                </a:solidFill>
              </a:rPr>
              <a:t>Yeni değişiklik eski özellikleri bozdu mu?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Test piramidi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828800"/>
            <a:ext cx="1280160" cy="640080"/>
          </a:xfrm>
          <a:prstGeom prst="rect">
            <a:avLst/>
          </a:prstGeom>
          <a:solidFill>
            <a:srgbClr val="BFD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3840480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</a:rPr>
              <a:t>E2E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2514600"/>
            <a:ext cx="2560320" cy="914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514600"/>
            <a:ext cx="3840480" cy="91440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</a:rPr>
              <a:t>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474720"/>
            <a:ext cx="384048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3840480" cy="11887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563EB"/>
                </a:solidFill>
              </a:rPr>
              <a:t>Pratik kural</a:t>
            </a:r>
          </a:p>
          <a:p>
            <a:r>
              <a:rPr sz="2000" b="1">
                <a:solidFill>
                  <a:srgbClr val="0F172A"/>
                </a:solidFill>
              </a:rPr>
              <a:t>Çok unit, makul integration, az E2E.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291840"/>
            <a:ext cx="1600200" cy="15544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2563EB"/>
                </a:solidFill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97680"/>
            <a:ext cx="1600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334155"/>
                </a:solidFill>
              </a:rPr>
              <a:t>unit 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291840"/>
            <a:ext cx="1600200" cy="15544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52044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2563EB"/>
                </a:solidFill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97680"/>
            <a:ext cx="1600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334155"/>
                </a:solidFill>
              </a:rPr>
              <a:t>integration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3291840"/>
            <a:ext cx="1600200" cy="15544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352044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2563EB"/>
                </a:solidFill>
              </a:rPr>
              <a:t>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4297680"/>
            <a:ext cx="1600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334155"/>
                </a:solidFill>
              </a:rPr>
              <a:t>toplam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2920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94A3B8"/>
                </a:solidFill>
              </a:rPr>
              <a:t>Bu projede testlerin dağılımı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REST Assured neden?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Java'da HTTP API'leri test etmek için en yaygın kütüphane. Üç kontrol tek bir akıcı zincirde: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7315200" cy="3291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6858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given()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    .body(Map.of("title", "Buy milk"))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.when()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    .post("/tasks")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.then()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    .statusCode(201)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    .body("title", equalTo("Buy milk"))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Menlo"/>
              </a:rPr>
              <a:t>    .time(lessThan(2000L));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194560"/>
            <a:ext cx="3474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2194560"/>
            <a:ext cx="7315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30428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Status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69748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34155"/>
                </a:solidFill>
                <a:latin typeface="Menlo"/>
              </a:rPr>
              <a:t>.statusCode(201)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291840"/>
            <a:ext cx="3474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291840"/>
            <a:ext cx="7315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40156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Response body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9476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34155"/>
                </a:solidFill>
                <a:latin typeface="Menlo"/>
              </a:rPr>
              <a:t>.body("title", equalTo(...))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389120"/>
            <a:ext cx="3474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4389120"/>
            <a:ext cx="7315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449884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Süre (SLA)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89204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34155"/>
                </a:solidFill>
                <a:latin typeface="Menlo"/>
              </a:rPr>
              <a:t>.time(lessThan(2000L))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Yapay zeka destekli test mühendisliği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4155"/>
                </a:solidFill>
              </a:rPr>
              <a:t>LLM tabanlı asistanlar (Claude, Copilot, Cursor) ile süreç iki yönlü: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F172A"/>
                </a:solidFill>
              </a:rPr>
              <a:t>Konu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2860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4155"/>
                </a:solidFill>
              </a:rPr>
              <a:t>Klasik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+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43200"/>
            <a:ext cx="1097280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07792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F172A"/>
                </a:solidFill>
              </a:rPr>
              <a:t>Test yazımı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07792"/>
            <a:ext cx="4206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İnsan yazar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07792"/>
            <a:ext cx="4023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0F172A"/>
                </a:solidFill>
              </a:rPr>
              <a:t>İnsan + asistan birlikte yazar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85032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F172A"/>
                </a:solidFill>
              </a:rPr>
              <a:t>Kapsam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85032"/>
            <a:ext cx="4206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Akla gelen senaryo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685032"/>
            <a:ext cx="4023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0F172A"/>
                </a:solidFill>
              </a:rPr>
              <a:t>AI eksik kenar durumu hatırlatır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80"/>
            <a:ext cx="1097280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62272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F172A"/>
                </a:solidFill>
              </a:rPr>
              <a:t>Hata triyajı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462272"/>
            <a:ext cx="4206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Stack trace okunur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4462272"/>
            <a:ext cx="4023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0F172A"/>
                </a:solidFill>
              </a:rPr>
              <a:t>AI özetler ve düzeltme önerir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39512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F172A"/>
                </a:solidFill>
              </a:rPr>
              <a:t>Doküman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239512"/>
            <a:ext cx="4206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Manuel yazılır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239512"/>
            <a:ext cx="4023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0F172A"/>
                </a:solidFill>
              </a:rPr>
              <a:t>Asistan özet/rapor üretir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852160"/>
            <a:ext cx="10972800" cy="5029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16168"/>
            <a:ext cx="10607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F172A"/>
                </a:solidFill>
              </a:rPr>
              <a:t>AI test mühendisini değiştirmiyor — karar merci hâlâ insan.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AI'nın test yaşam döngüsündeki rolleri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5372100" cy="1432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8288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Test üretimi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377440"/>
            <a:ext cx="427482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Pozitif ve negatif senaryoları otomatik üretmek.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1600200"/>
            <a:ext cx="5372100" cy="1432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69380" y="18288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9460" y="182880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Test oracle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9460" y="2377440"/>
            <a:ext cx="427482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"Bu çıktı doğru mu?" kararını destekleyen bilgi tabanı.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15640"/>
            <a:ext cx="5372100" cy="1432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4442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4424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Bakım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2880"/>
            <a:ext cx="427482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Üretim kodu değişince bozulan testleri güncelleme, flakiness analizi.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3215640"/>
            <a:ext cx="5372100" cy="1432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9380" y="34442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9460" y="344424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Hata triyajı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9460" y="3992880"/>
            <a:ext cx="427482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Stack trace'ten kök neden hipotezi, log korelasyonu.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31080"/>
            <a:ext cx="5372100" cy="1432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0596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5968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Doğal dilden senaryo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608320"/>
            <a:ext cx="427482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"Stok azalmalı" → çalıştırılabilir test koduna dönüştürmek.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4831080"/>
            <a:ext cx="5372100" cy="1432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69380" y="50596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9460" y="505968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İnsan denetimi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9460" y="5608320"/>
            <a:ext cx="427482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Her kullanım insan kontrolünde değer üretir.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Bu projeyi AI ile nasıl geliştirdim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721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92024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468880"/>
            <a:ext cx="4274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PDF gereksinimi asistana verildi → 4 aşamalı plan üretildi.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1691640"/>
            <a:ext cx="53721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69380" y="19202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9460" y="192024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Mikro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9460" y="2468880"/>
            <a:ext cx="4274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Her aşama küçük commit'lere bölündü (toplam 30+ commit).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69080"/>
            <a:ext cx="53721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42976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29768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İnsan kararı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46320"/>
            <a:ext cx="4274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Modül yapısı, test konumu, refactor kararları sahibinde.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069080"/>
            <a:ext cx="537210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9380" y="42976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9460" y="429768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Sürekli yeşil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9460" y="4846320"/>
            <a:ext cx="4274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Her adımda `mvn verify` ile regresyon korundu.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Demo akışı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</a:rPr>
              <a:t>1.  </a:t>
            </a:r>
            <a:r>
              <a:rPr sz="1800">
                <a:solidFill>
                  <a:srgbClr val="334155"/>
                </a:solidFill>
              </a:rPr>
              <a:t>git log --oneline  — küçük, okunabilir commit geçmişi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</a:rPr>
              <a:t>2.  </a:t>
            </a:r>
            <a:r>
              <a:rPr sz="1800">
                <a:solidFill>
                  <a:srgbClr val="334155"/>
                </a:solidFill>
              </a:rPr>
              <a:t>mvn -pl api spring-boot:run  — API'yi ayağa kaldır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</a:rPr>
              <a:t>3.  </a:t>
            </a:r>
            <a:r>
              <a:rPr sz="1800">
                <a:solidFill>
                  <a:srgbClr val="334155"/>
                </a:solidFill>
              </a:rPr>
              <a:t>curl /api/tasks  — endpoint'leri canlı göster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</a:rPr>
              <a:t>4.  </a:t>
            </a:r>
            <a:r>
              <a:rPr sz="1800">
                <a:solidFill>
                  <a:srgbClr val="334155"/>
                </a:solidFill>
              </a:rPr>
              <a:t>CreateTaskIT.java  — bir REST Assured testini incele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</a:rPr>
              <a:t>5.  </a:t>
            </a:r>
            <a:r>
              <a:rPr sz="1800">
                <a:solidFill>
                  <a:srgbClr val="334155"/>
                </a:solidFill>
              </a:rPr>
              <a:t>mvn verify  — tüm test paketini koştur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</a:rPr>
              <a:t>6.  </a:t>
            </a:r>
            <a:r>
              <a:rPr sz="1800">
                <a:solidFill>
                  <a:srgbClr val="334155"/>
                </a:solidFill>
              </a:rPr>
              <a:t>IntelliJ test ağacı  — pas/fail/süre dağılımı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</a:rPr>
              <a:t>7.  </a:t>
            </a:r>
            <a:r>
              <a:rPr sz="1800">
                <a:solidFill>
                  <a:srgbClr val="334155"/>
                </a:solidFill>
              </a:rPr>
              <a:t>GitHub Actions  — CI yeşil rozeti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Avantajlar ve riskler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440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44068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Avantajlar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800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Hız</a:t>
            </a:r>
            <a:r>
              <a:rPr sz="1500">
                <a:solidFill>
                  <a:srgbClr val="334155"/>
                </a:solidFill>
              </a:rPr>
              <a:t> — Boilerplate dakikalar içinde.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Kapsam</a:t>
            </a:r>
            <a:r>
              <a:rPr sz="1500">
                <a:solidFill>
                  <a:srgbClr val="334155"/>
                </a:solidFill>
              </a:rPr>
              <a:t> — Negatif senaryolar doğal olarak ekleniyor.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Tutarlılık</a:t>
            </a:r>
            <a:r>
              <a:rPr sz="1500">
                <a:solidFill>
                  <a:srgbClr val="334155"/>
                </a:solidFill>
              </a:rPr>
              <a:t> — Tüm testlerde aynı patern.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Geri besleme</a:t>
            </a:r>
            <a:r>
              <a:rPr sz="1500">
                <a:solidFill>
                  <a:srgbClr val="334155"/>
                </a:solidFill>
              </a:rPr>
              <a:t> — Hata mesajından kök neden dakikalar içinde.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91640"/>
            <a:ext cx="5440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91640"/>
            <a:ext cx="54406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7830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Riskler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4800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C2626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Halüsinasyon</a:t>
            </a:r>
            <a:r>
              <a:rPr sz="1500">
                <a:solidFill>
                  <a:srgbClr val="334155"/>
                </a:solidFill>
              </a:rPr>
              <a:t> — Uydurma metot/parametre olabilir.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C2626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Yanlış güven</a:t>
            </a:r>
            <a:r>
              <a:rPr sz="1500">
                <a:solidFill>
                  <a:srgbClr val="334155"/>
                </a:solidFill>
              </a:rPr>
              <a:t> — "AI yazdı, doğrudur" tuzağı.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C2626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Çift yanlış</a:t>
            </a:r>
            <a:r>
              <a:rPr sz="1500">
                <a:solidFill>
                  <a:srgbClr val="334155"/>
                </a:solidFill>
              </a:rPr>
              <a:t> — Hem üretim hem test AI ise korelasyon riski.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C2626"/>
                </a:solidFill>
              </a:rPr>
              <a:t>•  </a:t>
            </a:r>
            <a:r>
              <a:rPr sz="1500" b="1">
                <a:solidFill>
                  <a:srgbClr val="0F172A"/>
                </a:solidFill>
              </a:rPr>
              <a:t>Gizlilik</a:t>
            </a:r>
            <a:r>
              <a:rPr sz="1500">
                <a:solidFill>
                  <a:srgbClr val="334155"/>
                </a:solidFill>
              </a:rPr>
              <a:t> — Şirket içi koda LLM erişimi politikaya tabi.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Pratik öneriler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72100" cy="1402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92024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Code reviewer gibi düşün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468880"/>
            <a:ext cx="427482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Kabul/ret kararı sende.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1691640"/>
            <a:ext cx="5372100" cy="1402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69380" y="19202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9460" y="192024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Mikro adımlarla ilerle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9460" y="2468880"/>
            <a:ext cx="427482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Her commit'te test koş.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76600"/>
            <a:ext cx="5372100" cy="1402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052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0520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Test ismini insan yazsın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53840"/>
            <a:ext cx="427482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Ne kanıtladığını sen bilirsin.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3276600"/>
            <a:ext cx="5372100" cy="1402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9380" y="35052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9460" y="350520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Negatifleri açıkça iste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9460" y="4053840"/>
            <a:ext cx="427482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404, 400, boş input için de test.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61560"/>
            <a:ext cx="5372100" cy="1402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09016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9016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Refactor'ı AI'a yaptır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638800"/>
            <a:ext cx="427482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Boilerplate temizliğinde çok iyi.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4861560"/>
            <a:ext cx="5372100" cy="1402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69380" y="509016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9460" y="5090160"/>
            <a:ext cx="42748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F172A"/>
                </a:solidFill>
              </a:rPr>
              <a:t>CI'a güven, lokale değil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9460" y="5638800"/>
            <a:ext cx="427482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</a:rPr>
              <a:t>Temiz makine sonuçları belirler.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64465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Yapay Zeka Destekli Yazılım Test Mühendisliği  •  Arda Aydın Kılınç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</a:rPr>
              <a:t>Sonuç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563EB"/>
                </a:solidFill>
              </a:rPr>
              <a:t>•  </a:t>
            </a:r>
            <a:r>
              <a:rPr sz="1700">
                <a:solidFill>
                  <a:srgbClr val="334155"/>
                </a:solidFill>
              </a:rPr>
              <a:t>Test mühendisliği = yazılımı güvenle değiştirebilmenin disiplini.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563EB"/>
                </a:solidFill>
              </a:rPr>
              <a:t>•  </a:t>
            </a:r>
            <a:r>
              <a:rPr sz="1700">
                <a:solidFill>
                  <a:srgbClr val="334155"/>
                </a:solidFill>
              </a:rPr>
              <a:t>REST Assured + JUnit + Maven, JVM tarafının defacto stack'i.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563EB"/>
                </a:solidFill>
              </a:rPr>
              <a:t>•  </a:t>
            </a:r>
            <a:r>
              <a:rPr sz="1700">
                <a:solidFill>
                  <a:srgbClr val="334155"/>
                </a:solidFill>
              </a:rPr>
              <a:t>AI mühendisin hızını ve kapsamını büyütür — yargısını değil.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563EB"/>
                </a:solidFill>
              </a:rPr>
              <a:t>•  </a:t>
            </a:r>
            <a:r>
              <a:rPr sz="1700">
                <a:solidFill>
                  <a:srgbClr val="334155"/>
                </a:solidFill>
              </a:rPr>
              <a:t>Bu proje 4 aşamada, mikro commit'lerle, AI eş geliştirmesiyle üretildi.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572000"/>
            <a:ext cx="10972800" cy="82296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F172A"/>
                </a:solidFill>
              </a:rPr>
              <a:t>Repo:  </a:t>
            </a:r>
            <a:r>
              <a:rPr sz="1600">
                <a:solidFill>
                  <a:srgbClr val="2563EB"/>
                </a:solidFill>
                <a:latin typeface="Menlo"/>
              </a:rPr>
              <a:t>github.com/adraarda23/test-assured-api-tests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Sorular?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